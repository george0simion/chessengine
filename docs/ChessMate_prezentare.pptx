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1999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7863840" y="960120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8339327" y="960120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8814816" y="960120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9290304" y="960120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9765792" y="960120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10241280" y="960120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7863840" y="1435608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8339327" y="1435608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8814816" y="1435608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9290304" y="1435608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9765792" y="1435608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0241280" y="1435608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7863840" y="1911095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8339327" y="1911095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4" name="shape 24"/>
          <p:cNvSpPr/>
          <p:nvPr/>
        </p:nvSpPr>
        <p:spPr>
          <a:xfrm>
            <a:off x="8814816" y="1911095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9290304" y="1911095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9765792" y="1911095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10241280" y="1911095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7863840" y="2386584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9" name="shape 29"/>
          <p:cNvSpPr/>
          <p:nvPr/>
        </p:nvSpPr>
        <p:spPr>
          <a:xfrm>
            <a:off x="8339327" y="2386584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8814816" y="2386584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9290304" y="2386584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32" name="shape 32"/>
          <p:cNvSpPr/>
          <p:nvPr/>
        </p:nvSpPr>
        <p:spPr>
          <a:xfrm>
            <a:off x="9765792" y="2386584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10241280" y="2386584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34" name="shape 34"/>
          <p:cNvSpPr/>
          <p:nvPr/>
        </p:nvSpPr>
        <p:spPr>
          <a:xfrm>
            <a:off x="7863840" y="2862072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35" name="shape 35"/>
          <p:cNvSpPr/>
          <p:nvPr/>
        </p:nvSpPr>
        <p:spPr>
          <a:xfrm>
            <a:off x="8339327" y="2862072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36" name="shape 36"/>
          <p:cNvSpPr/>
          <p:nvPr/>
        </p:nvSpPr>
        <p:spPr>
          <a:xfrm>
            <a:off x="8814816" y="2862072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37" name="shape 37"/>
          <p:cNvSpPr/>
          <p:nvPr/>
        </p:nvSpPr>
        <p:spPr>
          <a:xfrm>
            <a:off x="9290304" y="2862072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38" name="shape 38"/>
          <p:cNvSpPr/>
          <p:nvPr/>
        </p:nvSpPr>
        <p:spPr>
          <a:xfrm>
            <a:off x="9765792" y="2862072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39" name="shape 39"/>
          <p:cNvSpPr/>
          <p:nvPr/>
        </p:nvSpPr>
        <p:spPr>
          <a:xfrm>
            <a:off x="10241280" y="2862072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40" name="shape 40"/>
          <p:cNvSpPr/>
          <p:nvPr/>
        </p:nvSpPr>
        <p:spPr>
          <a:xfrm>
            <a:off x="7863840" y="3337560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8339327" y="3337560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42" name="shape 42"/>
          <p:cNvSpPr/>
          <p:nvPr/>
        </p:nvSpPr>
        <p:spPr>
          <a:xfrm>
            <a:off x="8814816" y="3337560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43" name="shape 43"/>
          <p:cNvSpPr/>
          <p:nvPr/>
        </p:nvSpPr>
        <p:spPr>
          <a:xfrm>
            <a:off x="9290304" y="3337560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44" name="shape 44"/>
          <p:cNvSpPr/>
          <p:nvPr/>
        </p:nvSpPr>
        <p:spPr>
          <a:xfrm>
            <a:off x="9765792" y="3337560"/>
            <a:ext cx="47548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45" name="shape 45"/>
          <p:cNvSpPr/>
          <p:nvPr/>
        </p:nvSpPr>
        <p:spPr>
          <a:xfrm>
            <a:off x="10241280" y="3337560"/>
            <a:ext cx="4754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46" name="text 46"/>
          <p:cNvSpPr txBox="1"/>
          <p:nvPr/>
        </p:nvSpPr>
        <p:spPr>
          <a:xfrm>
            <a:off x="8363102" y="1435608"/>
            <a:ext cx="1854403" cy="1426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ro-RO" sz="7600" b="1">
                <a:solidFill>
                  <a:srgbClr val="F59E0B"/>
                </a:solidFill>
                <a:latin typeface="Aptos"/>
              </a:rPr>
              <a:t>♚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685800" y="1051560"/>
            <a:ext cx="6217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4600" b="1">
                <a:solidFill>
                  <a:srgbClr val="F8FAFC"/>
                </a:solidFill>
                <a:latin typeface="Aptos"/>
              </a:rPr>
              <a:t>ChessMate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749808" y="193852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600" b="0">
                <a:solidFill>
                  <a:srgbClr val="CBD5E1"/>
                </a:solidFill>
                <a:latin typeface="Aptos"/>
              </a:rPr>
              <a:t>Platforma web pentru sah: joc, antrenament si analiza.</a:t>
            </a:r>
          </a:p>
        </p:txBody>
      </p:sp>
      <p:sp>
        <p:nvSpPr>
          <p:cNvPr id="90" name="shape 90"/>
          <p:cNvSpPr/>
          <p:nvPr/>
        </p:nvSpPr>
        <p:spPr>
          <a:xfrm>
            <a:off x="749808" y="2971800"/>
            <a:ext cx="1600200" cy="38404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91" name="text 91"/>
          <p:cNvSpPr txBox="1"/>
          <p:nvPr/>
        </p:nvSpPr>
        <p:spPr>
          <a:xfrm>
            <a:off x="841247" y="305409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950" b="1">
                <a:solidFill>
                  <a:srgbClr val="F8FAFC"/>
                </a:solidFill>
                <a:latin typeface="Aptos"/>
              </a:rPr>
              <a:t>Flask</a:t>
            </a:r>
          </a:p>
        </p:txBody>
      </p:sp>
      <p:sp>
        <p:nvSpPr>
          <p:cNvPr id="92" name="shape 92"/>
          <p:cNvSpPr/>
          <p:nvPr/>
        </p:nvSpPr>
        <p:spPr>
          <a:xfrm>
            <a:off x="2551176" y="2971800"/>
            <a:ext cx="1600200" cy="38404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93" name="text 93"/>
          <p:cNvSpPr txBox="1"/>
          <p:nvPr/>
        </p:nvSpPr>
        <p:spPr>
          <a:xfrm>
            <a:off x="2642616" y="305409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950" b="1">
                <a:solidFill>
                  <a:srgbClr val="F8FAFC"/>
                </a:solidFill>
                <a:latin typeface="Aptos"/>
              </a:rPr>
              <a:t>FastAPI</a:t>
            </a:r>
          </a:p>
        </p:txBody>
      </p:sp>
      <p:sp>
        <p:nvSpPr>
          <p:cNvPr id="94" name="shape 94"/>
          <p:cNvSpPr/>
          <p:nvPr/>
        </p:nvSpPr>
        <p:spPr>
          <a:xfrm>
            <a:off x="4352544" y="2971800"/>
            <a:ext cx="1600200" cy="38404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95" name="text 95"/>
          <p:cNvSpPr txBox="1"/>
          <p:nvPr/>
        </p:nvSpPr>
        <p:spPr>
          <a:xfrm>
            <a:off x="4443983" y="305409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950" b="1">
                <a:solidFill>
                  <a:srgbClr val="F8FAFC"/>
                </a:solidFill>
                <a:latin typeface="Aptos"/>
              </a:rPr>
              <a:t>Engine propriu</a:t>
            </a:r>
          </a:p>
        </p:txBody>
      </p:sp>
      <p:sp>
        <p:nvSpPr>
          <p:cNvPr id="96" name="shape 96"/>
          <p:cNvSpPr/>
          <p:nvPr/>
        </p:nvSpPr>
        <p:spPr>
          <a:xfrm>
            <a:off x="6153912" y="2971800"/>
            <a:ext cx="1600200" cy="38404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472B6"/>
            </a:solidFill>
          </a:ln>
        </p:spPr>
        <p:txBody>
          <a:bodyPr/>
          <a:lstStyle/>
          <a:p/>
        </p:txBody>
      </p:sp>
      <p:sp>
        <p:nvSpPr>
          <p:cNvPr id="97" name="text 97"/>
          <p:cNvSpPr txBox="1"/>
          <p:nvPr/>
        </p:nvSpPr>
        <p:spPr>
          <a:xfrm>
            <a:off x="6245351" y="305409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950" b="1">
                <a:solidFill>
                  <a:srgbClr val="F8FAFC"/>
                </a:solidFill>
                <a:latin typeface="Aptos"/>
              </a:rPr>
              <a:t>Puzzle-uri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3047999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shape 201"/>
          <p:cNvSpPr/>
          <p:nvPr/>
        </p:nvSpPr>
        <p:spPr>
          <a:xfrm>
            <a:off x="3047999" y="0"/>
            <a:ext cx="3047999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shape 202"/>
          <p:cNvSpPr/>
          <p:nvPr/>
        </p:nvSpPr>
        <p:spPr>
          <a:xfrm>
            <a:off x="6095999" y="0"/>
            <a:ext cx="304799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shape 203"/>
          <p:cNvSpPr/>
          <p:nvPr/>
        </p:nvSpPr>
        <p:spPr>
          <a:xfrm>
            <a:off x="9143999" y="0"/>
            <a:ext cx="3047999" cy="640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685800" y="41148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2800" b="1">
                <a:solidFill>
                  <a:srgbClr val="F8FAFC"/>
                </a:solidFill>
                <a:latin typeface="Aptos"/>
              </a:rPr>
              <a:t>Ideea proiectului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250" b="0">
                <a:solidFill>
                  <a:srgbClr val="CBD5E1"/>
                </a:solidFill>
                <a:latin typeface="Aptos"/>
              </a:rPr>
              <a:t>Un singur produs pentru a juca, invata si revizui partide.</a:t>
            </a:r>
          </a:p>
        </p:txBody>
      </p:sp>
      <p:sp>
        <p:nvSpPr>
          <p:cNvPr id="12" name="shape 12"/>
          <p:cNvSpPr/>
          <p:nvPr/>
        </p:nvSpPr>
        <p:spPr>
          <a:xfrm>
            <a:off x="731520" y="1828800"/>
            <a:ext cx="3383280" cy="18288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731520" y="1828800"/>
            <a:ext cx="73152" cy="1828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960120" y="20299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450" b="1">
                <a:solidFill>
                  <a:srgbClr val="F8FAFC"/>
                </a:solidFill>
                <a:latin typeface="Aptos"/>
              </a:rPr>
              <a:t>Joc rapid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60120" y="2487168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050" b="0">
                <a:solidFill>
                  <a:srgbClr val="CBD5E1"/>
                </a:solidFill>
                <a:latin typeface="Aptos"/>
              </a:rPr>
              <a:t>Tabla interactiva, mutari legale, undo, flip si istoric.</a:t>
            </a:r>
          </a:p>
        </p:txBody>
      </p:sp>
      <p:sp>
        <p:nvSpPr>
          <p:cNvPr id="22" name="shape 22"/>
          <p:cNvSpPr/>
          <p:nvPr/>
        </p:nvSpPr>
        <p:spPr>
          <a:xfrm>
            <a:off x="4434840" y="1828800"/>
            <a:ext cx="3383280" cy="18288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4434840" y="182880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4663440" y="20299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450" b="1">
                <a:solidFill>
                  <a:srgbClr val="F8FAFC"/>
                </a:solidFill>
                <a:latin typeface="Aptos"/>
              </a:rPr>
              <a:t>Antrenament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663440" y="2487168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050" b="0">
                <a:solidFill>
                  <a:srgbClr val="CBD5E1"/>
                </a:solidFill>
                <a:latin typeface="Aptos"/>
              </a:rPr>
              <a:t>Bot pe 4 niveluri si puzzle-uri din baza Lichess.</a:t>
            </a:r>
          </a:p>
        </p:txBody>
      </p:sp>
      <p:sp>
        <p:nvSpPr>
          <p:cNvPr id="32" name="shape 32"/>
          <p:cNvSpPr/>
          <p:nvPr/>
        </p:nvSpPr>
        <p:spPr>
          <a:xfrm>
            <a:off x="8138160" y="1828800"/>
            <a:ext cx="3383280" cy="18288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8138160" y="1828800"/>
            <a:ext cx="73152" cy="1828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8366760" y="20299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450" b="1">
                <a:solidFill>
                  <a:srgbClr val="F8FAFC"/>
                </a:solidFill>
                <a:latin typeface="Aptos"/>
              </a:rPr>
              <a:t>Analiza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8366760" y="2487168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050" b="0">
                <a:solidFill>
                  <a:srgbClr val="CBD5E1"/>
                </a:solidFill>
                <a:latin typeface="Aptos"/>
              </a:rPr>
              <a:t>Partide salvate, review si evaluari generate de motor.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1005840" y="4434840"/>
            <a:ext cx="99669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550" b="1">
                <a:solidFill>
                  <a:srgbClr val="F8FAFC"/>
                </a:solidFill>
                <a:latin typeface="Aptos"/>
              </a:rPr>
              <a:t>Functionalitate reala, reguli corecte, interfata usor de folosit.</a:t>
            </a:r>
          </a:p>
        </p:txBody>
      </p:sp>
      <p:cxnSp>
        <p:nvCxnSpPr>
          <p:cNvPr id="90" name="connector 90"/>
          <p:cNvCxnSpPr/>
          <p:nvPr/>
        </p:nvCxnSpPr>
        <p:spPr>
          <a:xfrm>
            <a:off x="685800" y="6400800"/>
            <a:ext cx="10789920" cy="0"/>
          </a:xfrm>
          <a:prstGeom prst="line">
            <a:avLst/>
          </a:prstGeom>
          <a:ln w="9000" cap="round">
            <a:solidFill>
              <a:srgbClr val="334155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85800" y="64739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ChessMate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3047999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shape 201"/>
          <p:cNvSpPr/>
          <p:nvPr/>
        </p:nvSpPr>
        <p:spPr>
          <a:xfrm>
            <a:off x="3047999" y="0"/>
            <a:ext cx="3047999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shape 202"/>
          <p:cNvSpPr/>
          <p:nvPr/>
        </p:nvSpPr>
        <p:spPr>
          <a:xfrm>
            <a:off x="6095999" y="0"/>
            <a:ext cx="304799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shape 203"/>
          <p:cNvSpPr/>
          <p:nvPr/>
        </p:nvSpPr>
        <p:spPr>
          <a:xfrm>
            <a:off x="9143999" y="0"/>
            <a:ext cx="3047999" cy="640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685800" y="41148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2800" b="1">
                <a:solidFill>
                  <a:srgbClr val="F8FAFC"/>
                </a:solidFill>
                <a:latin typeface="Aptos"/>
              </a:rPr>
              <a:t>Moduri de joc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250" b="0">
                <a:solidFill>
                  <a:srgbClr val="CBD5E1"/>
                </a:solidFill>
                <a:latin typeface="Aptos"/>
              </a:rPr>
              <a:t>Acelasi board, mai multe experiente.</a:t>
            </a:r>
          </a:p>
        </p:txBody>
      </p:sp>
      <p:sp>
        <p:nvSpPr>
          <p:cNvPr id="12" name="shape 12"/>
          <p:cNvSpPr/>
          <p:nvPr/>
        </p:nvSpPr>
        <p:spPr>
          <a:xfrm>
            <a:off x="777240" y="1874519"/>
            <a:ext cx="2423160" cy="29718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960120" y="2121408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ro-RO" sz="3300" b="0">
                <a:solidFill>
                  <a:srgbClr val="38BDF8"/>
                </a:solidFill>
                <a:latin typeface="Aptos"/>
              </a:rPr>
              <a:t>♙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005840" y="315468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450" b="1">
                <a:solidFill>
                  <a:srgbClr val="F8FAFC"/>
                </a:solidFill>
                <a:latin typeface="Aptos"/>
              </a:rPr>
              <a:t>Local 1v1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097280" y="3749039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000" b="0">
                <a:solidFill>
                  <a:srgbClr val="CBD5E1"/>
                </a:solidFill>
                <a:latin typeface="Aptos"/>
              </a:rPr>
              <a:t>Doi jucatori pe acelasi ecran</a:t>
            </a:r>
          </a:p>
        </p:txBody>
      </p:sp>
      <p:sp>
        <p:nvSpPr>
          <p:cNvPr id="22" name="shape 22"/>
          <p:cNvSpPr/>
          <p:nvPr/>
        </p:nvSpPr>
        <p:spPr>
          <a:xfrm>
            <a:off x="3593592" y="1874519"/>
            <a:ext cx="2423160" cy="29718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3776472" y="2121408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ro-RO" sz="3300" b="0">
                <a:solidFill>
                  <a:srgbClr val="F59E0B"/>
                </a:solidFill>
                <a:latin typeface="Aptos"/>
              </a:rPr>
              <a:t>♞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3822191" y="315468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450" b="1">
                <a:solidFill>
                  <a:srgbClr val="F8FAFC"/>
                </a:solidFill>
                <a:latin typeface="Aptos"/>
              </a:rPr>
              <a:t>vs Bot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3913632" y="3749039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000" b="0">
                <a:solidFill>
                  <a:srgbClr val="CBD5E1"/>
                </a:solidFill>
                <a:latin typeface="Aptos"/>
              </a:rPr>
              <a:t>4 niveluri de dificultate</a:t>
            </a:r>
          </a:p>
        </p:txBody>
      </p:sp>
      <p:sp>
        <p:nvSpPr>
          <p:cNvPr id="32" name="shape 32"/>
          <p:cNvSpPr/>
          <p:nvPr/>
        </p:nvSpPr>
        <p:spPr>
          <a:xfrm>
            <a:off x="6409944" y="1874519"/>
            <a:ext cx="2423160" cy="29718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6592824" y="2121408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ro-RO" sz="3300" b="0">
                <a:solidFill>
                  <a:srgbClr val="34D399"/>
                </a:solidFill>
                <a:latin typeface="Aptos"/>
              </a:rPr>
              <a:t>♜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638544" y="315468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450" b="1">
                <a:solidFill>
                  <a:srgbClr val="F8FAFC"/>
                </a:solidFill>
                <a:latin typeface="Aptos"/>
              </a:rPr>
              <a:t>Online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6729983" y="3749039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000" b="0">
                <a:solidFill>
                  <a:srgbClr val="CBD5E1"/>
                </a:solidFill>
                <a:latin typeface="Aptos"/>
              </a:rPr>
              <a:t>Matchmaking prin WebSocket</a:t>
            </a:r>
          </a:p>
        </p:txBody>
      </p:sp>
      <p:sp>
        <p:nvSpPr>
          <p:cNvPr id="42" name="shape 42"/>
          <p:cNvSpPr/>
          <p:nvPr/>
        </p:nvSpPr>
        <p:spPr>
          <a:xfrm>
            <a:off x="9226296" y="1874519"/>
            <a:ext cx="2423160" cy="29718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9409176" y="2121408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ro-RO" sz="3300" b="0">
                <a:solidFill>
                  <a:srgbClr val="F472B6"/>
                </a:solidFill>
                <a:latin typeface="Aptos"/>
              </a:rPr>
              <a:t>♝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9454896" y="315468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450" b="1">
                <a:solidFill>
                  <a:srgbClr val="F8FAFC"/>
                </a:solidFill>
                <a:latin typeface="Aptos"/>
              </a:rPr>
              <a:t>Puzzle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9546336" y="3749039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000" b="0">
                <a:solidFill>
                  <a:srgbClr val="CBD5E1"/>
                </a:solidFill>
                <a:latin typeface="Aptos"/>
              </a:rPr>
              <a:t>Teme, hint si feedback</a:t>
            </a:r>
          </a:p>
        </p:txBody>
      </p:sp>
      <p:cxnSp>
        <p:nvCxnSpPr>
          <p:cNvPr id="90" name="connector 90"/>
          <p:cNvCxnSpPr/>
          <p:nvPr/>
        </p:nvCxnSpPr>
        <p:spPr>
          <a:xfrm>
            <a:off x="685800" y="6400800"/>
            <a:ext cx="10789920" cy="0"/>
          </a:xfrm>
          <a:prstGeom prst="line">
            <a:avLst/>
          </a:prstGeom>
          <a:ln w="9000" cap="round">
            <a:solidFill>
              <a:srgbClr val="334155"/>
            </a:solidFill>
          </a:ln>
        </p:spPr>
      </p:cxnSp>
      <p:sp>
        <p:nvSpPr>
          <p:cNvPr id="91" name="text 91"/>
          <p:cNvSpPr txBox="1"/>
          <p:nvPr/>
        </p:nvSpPr>
        <p:spPr>
          <a:xfrm>
            <a:off x="685800" y="64739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ChessMate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3047999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shape 201"/>
          <p:cNvSpPr/>
          <p:nvPr/>
        </p:nvSpPr>
        <p:spPr>
          <a:xfrm>
            <a:off x="3047999" y="0"/>
            <a:ext cx="3047999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shape 202"/>
          <p:cNvSpPr/>
          <p:nvPr/>
        </p:nvSpPr>
        <p:spPr>
          <a:xfrm>
            <a:off x="6095999" y="0"/>
            <a:ext cx="304799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shape 203"/>
          <p:cNvSpPr/>
          <p:nvPr/>
        </p:nvSpPr>
        <p:spPr>
          <a:xfrm>
            <a:off x="9143999" y="0"/>
            <a:ext cx="3047999" cy="640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685800" y="41148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2800" b="1">
                <a:solidFill>
                  <a:srgbClr val="F8FAFC"/>
                </a:solidFill>
                <a:latin typeface="Aptos"/>
              </a:rPr>
              <a:t>Motorul de sah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250" b="0">
                <a:solidFill>
                  <a:srgbClr val="CBD5E1"/>
                </a:solidFill>
                <a:latin typeface="Aptos"/>
              </a:rPr>
              <a:t>Reguli complete plus cautare pentru mutarea botului.</a:t>
            </a:r>
          </a:p>
        </p:txBody>
      </p:sp>
      <p:sp>
        <p:nvSpPr>
          <p:cNvPr id="12" name="shape 12"/>
          <p:cNvSpPr/>
          <p:nvPr/>
        </p:nvSpPr>
        <p:spPr>
          <a:xfrm>
            <a:off x="822960" y="1828800"/>
            <a:ext cx="2194560" cy="9144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960120" y="1984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350" b="1">
                <a:solidFill>
                  <a:srgbClr val="F8FAFC"/>
                </a:solidFill>
                <a:latin typeface="Aptos"/>
              </a:rPr>
              <a:t>FEN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60120" y="2331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0">
                <a:solidFill>
                  <a:srgbClr val="CBD5E1"/>
                </a:solidFill>
                <a:latin typeface="Aptos"/>
              </a:rPr>
              <a:t>pozitia curenta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3017520" y="2286000"/>
            <a:ext cx="411480" cy="0"/>
          </a:xfrm>
          <a:prstGeom prst="line">
            <a:avLst/>
          </a:prstGeom>
          <a:ln w="17000" cap="round">
            <a:solidFill>
              <a:srgbClr val="64748B"/>
            </a:solidFill>
          </a:ln>
        </p:spPr>
      </p:cxnSp>
      <p:sp>
        <p:nvSpPr>
          <p:cNvPr id="22" name="shape 22"/>
          <p:cNvSpPr/>
          <p:nvPr/>
        </p:nvSpPr>
        <p:spPr>
          <a:xfrm>
            <a:off x="3566160" y="1828800"/>
            <a:ext cx="2194560" cy="9144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3703320" y="1984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350" b="1">
                <a:solidFill>
                  <a:srgbClr val="F8FAFC"/>
                </a:solidFill>
                <a:latin typeface="Aptos"/>
              </a:rPr>
              <a:t>Mutari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3703320" y="2331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0">
                <a:solidFill>
                  <a:srgbClr val="CBD5E1"/>
                </a:solidFill>
                <a:latin typeface="Aptos"/>
              </a:rPr>
              <a:t>generare legala</a:t>
            </a:r>
          </a:p>
        </p:txBody>
      </p:sp>
      <p:cxnSp>
        <p:nvCxnSpPr>
          <p:cNvPr id="25" name="connector 25"/>
          <p:cNvCxnSpPr/>
          <p:nvPr/>
        </p:nvCxnSpPr>
        <p:spPr>
          <a:xfrm>
            <a:off x="5760720" y="2286000"/>
            <a:ext cx="411480" cy="0"/>
          </a:xfrm>
          <a:prstGeom prst="line">
            <a:avLst/>
          </a:prstGeom>
          <a:ln w="17000" cap="round">
            <a:solidFill>
              <a:srgbClr val="64748B"/>
            </a:solidFill>
          </a:ln>
        </p:spPr>
      </p:cxnSp>
      <p:sp>
        <p:nvSpPr>
          <p:cNvPr id="32" name="shape 32"/>
          <p:cNvSpPr/>
          <p:nvPr/>
        </p:nvSpPr>
        <p:spPr>
          <a:xfrm>
            <a:off x="6309360" y="1828800"/>
            <a:ext cx="2194560" cy="9144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6446520" y="1984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350" b="1">
                <a:solidFill>
                  <a:srgbClr val="F8FAFC"/>
                </a:solidFill>
                <a:latin typeface="Aptos"/>
              </a:rPr>
              <a:t>Cautare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446520" y="2331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0">
                <a:solidFill>
                  <a:srgbClr val="CBD5E1"/>
                </a:solidFill>
                <a:latin typeface="Aptos"/>
              </a:rPr>
              <a:t>alpha-beta</a:t>
            </a:r>
          </a:p>
        </p:txBody>
      </p:sp>
      <p:cxnSp>
        <p:nvCxnSpPr>
          <p:cNvPr id="35" name="connector 35"/>
          <p:cNvCxnSpPr/>
          <p:nvPr/>
        </p:nvCxnSpPr>
        <p:spPr>
          <a:xfrm>
            <a:off x="8503920" y="2286000"/>
            <a:ext cx="411479" cy="0"/>
          </a:xfrm>
          <a:prstGeom prst="line">
            <a:avLst/>
          </a:prstGeom>
          <a:ln w="17000" cap="round">
            <a:solidFill>
              <a:srgbClr val="64748B"/>
            </a:solidFill>
          </a:ln>
        </p:spPr>
      </p:cxnSp>
      <p:sp>
        <p:nvSpPr>
          <p:cNvPr id="42" name="shape 42"/>
          <p:cNvSpPr/>
          <p:nvPr/>
        </p:nvSpPr>
        <p:spPr>
          <a:xfrm>
            <a:off x="9052560" y="1828800"/>
            <a:ext cx="2194560" cy="9144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472B6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9189720" y="19842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350" b="1">
                <a:solidFill>
                  <a:srgbClr val="F8FAFC"/>
                </a:solidFill>
                <a:latin typeface="Aptos"/>
              </a:rPr>
              <a:t>Raspuns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9189720" y="2331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0">
                <a:solidFill>
                  <a:srgbClr val="CBD5E1"/>
                </a:solidFill>
                <a:latin typeface="Aptos"/>
              </a:rPr>
              <a:t>best move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1005840" y="3794760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285750" indent="-171450">
              <a:buChar char="•"/>
            </a:pPr>
            <a:r>
              <a:rPr lang="ro-RO" sz="1250" b="0">
                <a:solidFill>
                  <a:srgbClr val="E2E8F0"/>
                </a:solidFill>
                <a:latin typeface="Aptos"/>
              </a:rPr>
              <a:t>castling, en passant, promovare, mat, pat, remize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1005840" y="4297680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285750" indent="-171450">
              <a:buChar char="•"/>
            </a:pPr>
            <a:r>
              <a:rPr lang="ro-RO" sz="1250" b="0">
                <a:solidFill>
                  <a:srgbClr val="E2E8F0"/>
                </a:solidFill>
                <a:latin typeface="Aptos"/>
              </a:rPr>
              <a:t>iterative deepening, transposition table, quiescence search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1005840" y="4800600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285750" indent="-171450">
              <a:buChar char="•"/>
            </a:pPr>
            <a:r>
              <a:rPr lang="ro-RO" sz="1250" b="0">
                <a:solidFill>
                  <a:srgbClr val="E2E8F0"/>
                </a:solidFill>
                <a:latin typeface="Aptos"/>
              </a:rPr>
              <a:t>niveluri 1-4: buget de timp, adancime, randomizare controlata</a:t>
            </a:r>
          </a:p>
        </p:txBody>
      </p:sp>
      <p:cxnSp>
        <p:nvCxnSpPr>
          <p:cNvPr id="95" name="connector 95"/>
          <p:cNvCxnSpPr/>
          <p:nvPr/>
        </p:nvCxnSpPr>
        <p:spPr>
          <a:xfrm>
            <a:off x="685800" y="6400800"/>
            <a:ext cx="10789920" cy="0"/>
          </a:xfrm>
          <a:prstGeom prst="line">
            <a:avLst/>
          </a:prstGeom>
          <a:ln w="9000" cap="round">
            <a:solidFill>
              <a:srgbClr val="334155"/>
            </a:solidFill>
          </a:ln>
        </p:spPr>
      </p:cxnSp>
      <p:sp>
        <p:nvSpPr>
          <p:cNvPr id="96" name="text 96"/>
          <p:cNvSpPr txBox="1"/>
          <p:nvPr/>
        </p:nvSpPr>
        <p:spPr>
          <a:xfrm>
            <a:off x="685800" y="64739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ChessMate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3047999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shape 201"/>
          <p:cNvSpPr/>
          <p:nvPr/>
        </p:nvSpPr>
        <p:spPr>
          <a:xfrm>
            <a:off x="3047999" y="0"/>
            <a:ext cx="3047999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shape 202"/>
          <p:cNvSpPr/>
          <p:nvPr/>
        </p:nvSpPr>
        <p:spPr>
          <a:xfrm>
            <a:off x="6095999" y="0"/>
            <a:ext cx="304799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shape 203"/>
          <p:cNvSpPr/>
          <p:nvPr/>
        </p:nvSpPr>
        <p:spPr>
          <a:xfrm>
            <a:off x="9143999" y="0"/>
            <a:ext cx="3047999" cy="640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685800" y="41148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2800" b="1">
                <a:solidFill>
                  <a:srgbClr val="F8FAFC"/>
                </a:solidFill>
                <a:latin typeface="Aptos"/>
              </a:rPr>
              <a:t>Arhitectura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250" b="0">
                <a:solidFill>
                  <a:srgbClr val="CBD5E1"/>
                </a:solidFill>
                <a:latin typeface="Aptos"/>
              </a:rPr>
              <a:t>Doua servicii care impart aceeasi baza de date si acelasi secret JWT.</a:t>
            </a:r>
          </a:p>
        </p:txBody>
      </p:sp>
      <p:sp>
        <p:nvSpPr>
          <p:cNvPr id="12" name="shape 12"/>
          <p:cNvSpPr/>
          <p:nvPr/>
        </p:nvSpPr>
        <p:spPr>
          <a:xfrm>
            <a:off x="822960" y="1828800"/>
            <a:ext cx="1920240" cy="109728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960120" y="20574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250" b="1">
                <a:solidFill>
                  <a:srgbClr val="F8FAFC"/>
                </a:solidFill>
                <a:latin typeface="Aptos"/>
              </a:rPr>
              <a:t>Browser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60120" y="24231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0">
                <a:solidFill>
                  <a:srgbClr val="CBD5E1"/>
                </a:solidFill>
                <a:latin typeface="Aptos"/>
              </a:rPr>
              <a:t>static JS/CSS</a:t>
            </a:r>
          </a:p>
        </p:txBody>
      </p:sp>
      <p:sp>
        <p:nvSpPr>
          <p:cNvPr id="22" name="shape 22"/>
          <p:cNvSpPr/>
          <p:nvPr/>
        </p:nvSpPr>
        <p:spPr>
          <a:xfrm>
            <a:off x="3337560" y="1417320"/>
            <a:ext cx="2148840" cy="109728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3474720" y="16459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250" b="1">
                <a:solidFill>
                  <a:srgbClr val="F8FAFC"/>
                </a:solidFill>
                <a:latin typeface="Aptos"/>
              </a:rPr>
              <a:t>Flask API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3474720" y="201168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0">
                <a:solidFill>
                  <a:srgbClr val="CBD5E1"/>
                </a:solidFill>
                <a:latin typeface="Aptos"/>
              </a:rPr>
              <a:t>joc, auth, review</a:t>
            </a:r>
          </a:p>
        </p:txBody>
      </p:sp>
      <p:sp>
        <p:nvSpPr>
          <p:cNvPr id="32" name="shape 32"/>
          <p:cNvSpPr/>
          <p:nvPr/>
        </p:nvSpPr>
        <p:spPr>
          <a:xfrm>
            <a:off x="6263640" y="1051560"/>
            <a:ext cx="2011680" cy="9144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6400800" y="1280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250" b="1">
                <a:solidFill>
                  <a:srgbClr val="F8FAFC"/>
                </a:solidFill>
                <a:latin typeface="Aptos"/>
              </a:rPr>
              <a:t>Engine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400800" y="1645919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0">
                <a:solidFill>
                  <a:srgbClr val="CBD5E1"/>
                </a:solidFill>
                <a:latin typeface="Aptos"/>
              </a:rPr>
              <a:t>alpha-beta</a:t>
            </a:r>
          </a:p>
        </p:txBody>
      </p:sp>
      <p:sp>
        <p:nvSpPr>
          <p:cNvPr id="42" name="shape 42"/>
          <p:cNvSpPr/>
          <p:nvPr/>
        </p:nvSpPr>
        <p:spPr>
          <a:xfrm>
            <a:off x="6263640" y="2331720"/>
            <a:ext cx="2011680" cy="9144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472B6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6400800" y="25603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250" b="1">
                <a:solidFill>
                  <a:srgbClr val="F8FAFC"/>
                </a:solidFill>
                <a:latin typeface="Aptos"/>
              </a:rPr>
              <a:t>Puzzle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6400800" y="2926079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0">
                <a:solidFill>
                  <a:srgbClr val="CBD5E1"/>
                </a:solidFill>
                <a:latin typeface="Aptos"/>
              </a:rPr>
              <a:t>Lichess CSV</a:t>
            </a:r>
          </a:p>
        </p:txBody>
      </p:sp>
      <p:sp>
        <p:nvSpPr>
          <p:cNvPr id="52" name="shape 52"/>
          <p:cNvSpPr/>
          <p:nvPr/>
        </p:nvSpPr>
        <p:spPr>
          <a:xfrm>
            <a:off x="8961120" y="1645920"/>
            <a:ext cx="2286000" cy="12344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9098280" y="187451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250" b="1">
                <a:solidFill>
                  <a:srgbClr val="F8FAFC"/>
                </a:solidFill>
                <a:latin typeface="Aptos"/>
              </a:rPr>
              <a:t>DB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9098280" y="2240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0">
                <a:solidFill>
                  <a:srgbClr val="CBD5E1"/>
                </a:solidFill>
                <a:latin typeface="Aptos"/>
              </a:rPr>
              <a:t>users, ratings, games</a:t>
            </a:r>
          </a:p>
        </p:txBody>
      </p:sp>
      <p:sp>
        <p:nvSpPr>
          <p:cNvPr id="62" name="shape 62"/>
          <p:cNvSpPr/>
          <p:nvPr/>
        </p:nvSpPr>
        <p:spPr>
          <a:xfrm>
            <a:off x="3337560" y="3886200"/>
            <a:ext cx="2148840" cy="1051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63" name="text 63"/>
          <p:cNvSpPr txBox="1"/>
          <p:nvPr/>
        </p:nvSpPr>
        <p:spPr>
          <a:xfrm>
            <a:off x="3474720" y="411480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250" b="1">
                <a:solidFill>
                  <a:srgbClr val="F8FAFC"/>
                </a:solidFill>
                <a:latin typeface="Aptos"/>
              </a:rPr>
              <a:t>FastAPI WS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3474720" y="448056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0">
                <a:solidFill>
                  <a:srgbClr val="CBD5E1"/>
                </a:solidFill>
                <a:latin typeface="Aptos"/>
              </a:rPr>
              <a:t>matchmaking</a:t>
            </a:r>
          </a:p>
        </p:txBody>
      </p:sp>
      <p:sp>
        <p:nvSpPr>
          <p:cNvPr id="72" name="shape 72"/>
          <p:cNvSpPr/>
          <p:nvPr/>
        </p:nvSpPr>
        <p:spPr>
          <a:xfrm>
            <a:off x="6263640" y="3886200"/>
            <a:ext cx="2011680" cy="1051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73" name="text 73"/>
          <p:cNvSpPr txBox="1"/>
          <p:nvPr/>
        </p:nvSpPr>
        <p:spPr>
          <a:xfrm>
            <a:off x="6400800" y="41148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250" b="1">
                <a:solidFill>
                  <a:srgbClr val="F8FAFC"/>
                </a:solidFill>
                <a:latin typeface="Aptos"/>
              </a:rPr>
              <a:t>Rooms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6400800" y="44805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0">
                <a:solidFill>
                  <a:srgbClr val="CBD5E1"/>
                </a:solidFill>
                <a:latin typeface="Aptos"/>
              </a:rPr>
              <a:t>timers + moves</a:t>
            </a:r>
          </a:p>
        </p:txBody>
      </p:sp>
      <p:cxnSp>
        <p:nvCxnSpPr>
          <p:cNvPr id="82" name="connector 82"/>
          <p:cNvCxnSpPr/>
          <p:nvPr/>
        </p:nvCxnSpPr>
        <p:spPr>
          <a:xfrm flipV="1">
            <a:off x="2743200" y="1965960"/>
            <a:ext cx="594359" cy="411480"/>
          </a:xfrm>
          <a:prstGeom prst="line">
            <a:avLst/>
          </a:prstGeom>
          <a:ln w="15000" cap="round">
            <a:solidFill>
              <a:srgbClr val="64748B"/>
            </a:solidFill>
          </a:ln>
        </p:spPr>
      </p:cxnSp>
      <p:cxnSp>
        <p:nvCxnSpPr>
          <p:cNvPr id="83" name="connector 83"/>
          <p:cNvCxnSpPr/>
          <p:nvPr/>
        </p:nvCxnSpPr>
        <p:spPr>
          <a:xfrm flipV="1">
            <a:off x="5486400" y="1508760"/>
            <a:ext cx="777239" cy="457200"/>
          </a:xfrm>
          <a:prstGeom prst="line">
            <a:avLst/>
          </a:prstGeom>
          <a:ln w="15000" cap="round">
            <a:solidFill>
              <a:srgbClr val="64748B"/>
            </a:solidFill>
          </a:ln>
        </p:spPr>
      </p:cxnSp>
      <p:cxnSp>
        <p:nvCxnSpPr>
          <p:cNvPr id="84" name="connector 84"/>
          <p:cNvCxnSpPr/>
          <p:nvPr/>
        </p:nvCxnSpPr>
        <p:spPr>
          <a:xfrm>
            <a:off x="5486400" y="1965960"/>
            <a:ext cx="777239" cy="822959"/>
          </a:xfrm>
          <a:prstGeom prst="line">
            <a:avLst/>
          </a:prstGeom>
          <a:ln w="15000" cap="round">
            <a:solidFill>
              <a:srgbClr val="64748B"/>
            </a:solidFill>
          </a:ln>
        </p:spPr>
      </p:cxnSp>
      <p:cxnSp>
        <p:nvCxnSpPr>
          <p:cNvPr id="85" name="connector 85"/>
          <p:cNvCxnSpPr/>
          <p:nvPr/>
        </p:nvCxnSpPr>
        <p:spPr>
          <a:xfrm>
            <a:off x="8275320" y="1508760"/>
            <a:ext cx="685800" cy="548640"/>
          </a:xfrm>
          <a:prstGeom prst="line">
            <a:avLst/>
          </a:prstGeom>
          <a:ln w="15000" cap="round">
            <a:solidFill>
              <a:srgbClr val="64748B"/>
            </a:solidFill>
          </a:ln>
        </p:spPr>
      </p:cxnSp>
      <p:cxnSp>
        <p:nvCxnSpPr>
          <p:cNvPr id="86" name="connector 86"/>
          <p:cNvCxnSpPr/>
          <p:nvPr/>
        </p:nvCxnSpPr>
        <p:spPr>
          <a:xfrm>
            <a:off x="2743200" y="2377440"/>
            <a:ext cx="594359" cy="2029968"/>
          </a:xfrm>
          <a:prstGeom prst="line">
            <a:avLst/>
          </a:prstGeom>
          <a:ln w="15000" cap="round">
            <a:solidFill>
              <a:srgbClr val="64748B"/>
            </a:solidFill>
          </a:ln>
        </p:spPr>
      </p:cxnSp>
      <p:cxnSp>
        <p:nvCxnSpPr>
          <p:cNvPr id="87" name="connector 87"/>
          <p:cNvCxnSpPr/>
          <p:nvPr/>
        </p:nvCxnSpPr>
        <p:spPr>
          <a:xfrm>
            <a:off x="5486400" y="4407408"/>
            <a:ext cx="777239" cy="0"/>
          </a:xfrm>
          <a:prstGeom prst="line">
            <a:avLst/>
          </a:prstGeom>
          <a:ln w="15000" cap="round">
            <a:solidFill>
              <a:srgbClr val="64748B"/>
            </a:solidFill>
          </a:ln>
        </p:spPr>
      </p:cxnSp>
      <p:cxnSp>
        <p:nvCxnSpPr>
          <p:cNvPr id="88" name="connector 88"/>
          <p:cNvCxnSpPr/>
          <p:nvPr/>
        </p:nvCxnSpPr>
        <p:spPr>
          <a:xfrm flipV="1">
            <a:off x="8275320" y="2331720"/>
            <a:ext cx="685800" cy="2075688"/>
          </a:xfrm>
          <a:prstGeom prst="line">
            <a:avLst/>
          </a:prstGeom>
          <a:ln w="15000" cap="round">
            <a:solidFill>
              <a:srgbClr val="64748B"/>
            </a:solidFill>
          </a:ln>
        </p:spPr>
      </p:cxnSp>
      <p:cxnSp>
        <p:nvCxnSpPr>
          <p:cNvPr id="95" name="connector 95"/>
          <p:cNvCxnSpPr/>
          <p:nvPr/>
        </p:nvCxnSpPr>
        <p:spPr>
          <a:xfrm>
            <a:off x="685800" y="6400800"/>
            <a:ext cx="10789920" cy="0"/>
          </a:xfrm>
          <a:prstGeom prst="line">
            <a:avLst/>
          </a:prstGeom>
          <a:ln w="9000" cap="round">
            <a:solidFill>
              <a:srgbClr val="334155"/>
            </a:solidFill>
          </a:ln>
        </p:spPr>
      </p:cxnSp>
      <p:sp>
        <p:nvSpPr>
          <p:cNvPr id="96" name="text 96"/>
          <p:cNvSpPr txBox="1"/>
          <p:nvPr/>
        </p:nvSpPr>
        <p:spPr>
          <a:xfrm>
            <a:off x="685800" y="64739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ChessMate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3047999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shape 201"/>
          <p:cNvSpPr/>
          <p:nvPr/>
        </p:nvSpPr>
        <p:spPr>
          <a:xfrm>
            <a:off x="3047999" y="0"/>
            <a:ext cx="3047999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shape 202"/>
          <p:cNvSpPr/>
          <p:nvPr/>
        </p:nvSpPr>
        <p:spPr>
          <a:xfrm>
            <a:off x="6095999" y="0"/>
            <a:ext cx="304799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shape 203"/>
          <p:cNvSpPr/>
          <p:nvPr/>
        </p:nvSpPr>
        <p:spPr>
          <a:xfrm>
            <a:off x="9143999" y="0"/>
            <a:ext cx="3047999" cy="640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685800" y="41148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2800" b="1">
                <a:solidFill>
                  <a:srgbClr val="F8FAFC"/>
                </a:solidFill>
                <a:latin typeface="Aptos"/>
              </a:rPr>
              <a:t>Multiplayer online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250" b="0">
                <a:solidFill>
                  <a:srgbClr val="CBD5E1"/>
                </a:solidFill>
                <a:latin typeface="Aptos"/>
              </a:rPr>
              <a:t>Flux separat, in timp real, prin WebSocket.</a:t>
            </a:r>
          </a:p>
        </p:txBody>
      </p:sp>
      <p:sp>
        <p:nvSpPr>
          <p:cNvPr id="12" name="shape 12"/>
          <p:cNvSpPr/>
          <p:nvPr/>
        </p:nvSpPr>
        <p:spPr>
          <a:xfrm>
            <a:off x="777240" y="2057400"/>
            <a:ext cx="1691640" cy="14173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914400" y="2240280"/>
            <a:ext cx="384048" cy="384048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969264" y="2304288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1">
                <a:solidFill>
                  <a:srgbClr val="0F172A"/>
                </a:solidFill>
                <a:latin typeface="Aptos"/>
              </a:rPr>
              <a:t>1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60120" y="269748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150" b="1">
                <a:solidFill>
                  <a:srgbClr val="F8FAFC"/>
                </a:solidFill>
                <a:latin typeface="Aptos"/>
              </a:rPr>
              <a:t>Login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41832" y="2971800"/>
            <a:ext cx="1362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00" b="0">
                <a:solidFill>
                  <a:srgbClr val="CBD5E1"/>
                </a:solidFill>
                <a:latin typeface="Aptos"/>
              </a:rPr>
              <a:t>JWT emis de Flask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2468880" y="2761488"/>
            <a:ext cx="466343" cy="0"/>
          </a:xfrm>
          <a:prstGeom prst="line">
            <a:avLst/>
          </a:prstGeom>
          <a:ln w="14000" cap="round">
            <a:solidFill>
              <a:srgbClr val="64748B"/>
            </a:solidFill>
          </a:ln>
        </p:spPr>
      </p:cxnSp>
      <p:sp>
        <p:nvSpPr>
          <p:cNvPr id="22" name="shape 22"/>
          <p:cNvSpPr/>
          <p:nvPr/>
        </p:nvSpPr>
        <p:spPr>
          <a:xfrm>
            <a:off x="3035808" y="2057400"/>
            <a:ext cx="1691640" cy="14173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3172968" y="2240280"/>
            <a:ext cx="384048" cy="384048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3227832" y="2304288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1">
                <a:solidFill>
                  <a:srgbClr val="0F172A"/>
                </a:solidFill>
                <a:latin typeface="Aptos"/>
              </a:rPr>
              <a:t>2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3218688" y="269748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150" b="1">
                <a:solidFill>
                  <a:srgbClr val="F8FAFC"/>
                </a:solidFill>
                <a:latin typeface="Aptos"/>
              </a:rPr>
              <a:t>Queue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3200400" y="2971800"/>
            <a:ext cx="1362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00" b="0">
                <a:solidFill>
                  <a:srgbClr val="CBD5E1"/>
                </a:solidFill>
                <a:latin typeface="Aptos"/>
              </a:rPr>
              <a:t>3+2, 5+2, 10+2</a:t>
            </a:r>
          </a:p>
        </p:txBody>
      </p:sp>
      <p:cxnSp>
        <p:nvCxnSpPr>
          <p:cNvPr id="27" name="connector 27"/>
          <p:cNvCxnSpPr/>
          <p:nvPr/>
        </p:nvCxnSpPr>
        <p:spPr>
          <a:xfrm>
            <a:off x="4727448" y="2761488"/>
            <a:ext cx="466343" cy="0"/>
          </a:xfrm>
          <a:prstGeom prst="line">
            <a:avLst/>
          </a:prstGeom>
          <a:ln w="14000" cap="round">
            <a:solidFill>
              <a:srgbClr val="64748B"/>
            </a:solidFill>
          </a:ln>
        </p:spPr>
      </p:cxnSp>
      <p:sp>
        <p:nvSpPr>
          <p:cNvPr id="32" name="shape 32"/>
          <p:cNvSpPr/>
          <p:nvPr/>
        </p:nvSpPr>
        <p:spPr>
          <a:xfrm>
            <a:off x="5294376" y="2057400"/>
            <a:ext cx="1691640" cy="14173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5431536" y="2240280"/>
            <a:ext cx="384048" cy="384048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5486400" y="2304288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1">
                <a:solidFill>
                  <a:srgbClr val="0F172A"/>
                </a:solidFill>
                <a:latin typeface="Aptos"/>
              </a:rPr>
              <a:t>3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5477256" y="269748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150" b="1">
                <a:solidFill>
                  <a:srgbClr val="F8FAFC"/>
                </a:solidFill>
                <a:latin typeface="Aptos"/>
              </a:rPr>
              <a:t>Room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458968" y="2971800"/>
            <a:ext cx="1362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00" b="0">
                <a:solidFill>
                  <a:srgbClr val="CBD5E1"/>
                </a:solidFill>
                <a:latin typeface="Aptos"/>
              </a:rPr>
              <a:t>doi jucatori</a:t>
            </a:r>
          </a:p>
        </p:txBody>
      </p:sp>
      <p:cxnSp>
        <p:nvCxnSpPr>
          <p:cNvPr id="37" name="connector 37"/>
          <p:cNvCxnSpPr/>
          <p:nvPr/>
        </p:nvCxnSpPr>
        <p:spPr>
          <a:xfrm>
            <a:off x="6986016" y="2761488"/>
            <a:ext cx="466343" cy="0"/>
          </a:xfrm>
          <a:prstGeom prst="line">
            <a:avLst/>
          </a:prstGeom>
          <a:ln w="14000" cap="round">
            <a:solidFill>
              <a:srgbClr val="64748B"/>
            </a:solidFill>
          </a:ln>
        </p:spPr>
      </p:cxnSp>
      <p:sp>
        <p:nvSpPr>
          <p:cNvPr id="42" name="shape 42"/>
          <p:cNvSpPr/>
          <p:nvPr/>
        </p:nvSpPr>
        <p:spPr>
          <a:xfrm>
            <a:off x="7552944" y="2057400"/>
            <a:ext cx="1691640" cy="14173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43" name="shape 43"/>
          <p:cNvSpPr/>
          <p:nvPr/>
        </p:nvSpPr>
        <p:spPr>
          <a:xfrm>
            <a:off x="7690104" y="2240280"/>
            <a:ext cx="384048" cy="384048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7744968" y="2304288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7735823" y="269748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150" b="1">
                <a:solidFill>
                  <a:srgbClr val="F8FAFC"/>
                </a:solidFill>
                <a:latin typeface="Aptos"/>
              </a:rPr>
              <a:t>Moves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7717536" y="2971800"/>
            <a:ext cx="1362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00" b="0">
                <a:solidFill>
                  <a:srgbClr val="CBD5E1"/>
                </a:solidFill>
                <a:latin typeface="Aptos"/>
              </a:rPr>
              <a:t>validare + clock</a:t>
            </a:r>
          </a:p>
        </p:txBody>
      </p:sp>
      <p:cxnSp>
        <p:nvCxnSpPr>
          <p:cNvPr id="47" name="connector 47"/>
          <p:cNvCxnSpPr/>
          <p:nvPr/>
        </p:nvCxnSpPr>
        <p:spPr>
          <a:xfrm>
            <a:off x="9244584" y="2761488"/>
            <a:ext cx="466343" cy="0"/>
          </a:xfrm>
          <a:prstGeom prst="line">
            <a:avLst/>
          </a:prstGeom>
          <a:ln w="14000" cap="round">
            <a:solidFill>
              <a:srgbClr val="64748B"/>
            </a:solidFill>
          </a:ln>
        </p:spPr>
      </p:cxnSp>
      <p:sp>
        <p:nvSpPr>
          <p:cNvPr id="52" name="shape 52"/>
          <p:cNvSpPr/>
          <p:nvPr/>
        </p:nvSpPr>
        <p:spPr>
          <a:xfrm>
            <a:off x="9811512" y="2057400"/>
            <a:ext cx="1691640" cy="14173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53" name="shape 53"/>
          <p:cNvSpPr/>
          <p:nvPr/>
        </p:nvSpPr>
        <p:spPr>
          <a:xfrm>
            <a:off x="9948672" y="2240280"/>
            <a:ext cx="384048" cy="384048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54" name="text 54"/>
          <p:cNvSpPr txBox="1"/>
          <p:nvPr/>
        </p:nvSpPr>
        <p:spPr>
          <a:xfrm>
            <a:off x="10003536" y="2304288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50" b="1">
                <a:solidFill>
                  <a:srgbClr val="0F172A"/>
                </a:solidFill>
                <a:latin typeface="Aptos"/>
              </a:rPr>
              <a:t>5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9994392" y="269748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150" b="1">
                <a:solidFill>
                  <a:srgbClr val="F8FAFC"/>
                </a:solidFill>
                <a:latin typeface="Aptos"/>
              </a:rPr>
              <a:t>Save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9976104" y="2971800"/>
            <a:ext cx="1362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800" b="0">
                <a:solidFill>
                  <a:srgbClr val="CBD5E1"/>
                </a:solidFill>
                <a:latin typeface="Aptos"/>
              </a:rPr>
              <a:t>istoric comun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1051560" y="457200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300" b="0">
                <a:solidFill>
                  <a:srgbClr val="E2E8F0"/>
                </a:solidFill>
                <a:latin typeface="Aptos"/>
              </a:rPr>
              <a:t>Responsabilitati clare: autentificare, matchmaking, camere active, persistenta.</a:t>
            </a:r>
          </a:p>
        </p:txBody>
      </p:sp>
      <p:cxnSp>
        <p:nvCxnSpPr>
          <p:cNvPr id="95" name="connector 95"/>
          <p:cNvCxnSpPr/>
          <p:nvPr/>
        </p:nvCxnSpPr>
        <p:spPr>
          <a:xfrm>
            <a:off x="685800" y="6400800"/>
            <a:ext cx="10789920" cy="0"/>
          </a:xfrm>
          <a:prstGeom prst="line">
            <a:avLst/>
          </a:prstGeom>
          <a:ln w="9000" cap="round">
            <a:solidFill>
              <a:srgbClr val="334155"/>
            </a:solidFill>
          </a:ln>
        </p:spPr>
      </p:cxnSp>
      <p:sp>
        <p:nvSpPr>
          <p:cNvPr id="96" name="text 96"/>
          <p:cNvSpPr txBox="1"/>
          <p:nvPr/>
        </p:nvSpPr>
        <p:spPr>
          <a:xfrm>
            <a:off x="685800" y="64739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ChessMate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3047999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shape 201"/>
          <p:cNvSpPr/>
          <p:nvPr/>
        </p:nvSpPr>
        <p:spPr>
          <a:xfrm>
            <a:off x="3047999" y="0"/>
            <a:ext cx="3047999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shape 202"/>
          <p:cNvSpPr/>
          <p:nvPr/>
        </p:nvSpPr>
        <p:spPr>
          <a:xfrm>
            <a:off x="6095999" y="0"/>
            <a:ext cx="304799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shape 203"/>
          <p:cNvSpPr/>
          <p:nvPr/>
        </p:nvSpPr>
        <p:spPr>
          <a:xfrm>
            <a:off x="9143999" y="0"/>
            <a:ext cx="3047999" cy="640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685800" y="41148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2800" b="1">
                <a:solidFill>
                  <a:srgbClr val="F8FAFC"/>
                </a:solidFill>
                <a:latin typeface="Aptos"/>
              </a:rPr>
              <a:t>Puzzle-uri si antrenament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250" b="0">
                <a:solidFill>
                  <a:srgbClr val="CBD5E1"/>
                </a:solidFill>
                <a:latin typeface="Aptos"/>
              </a:rPr>
              <a:t>Sesiuni separate de jocurile normale.</a:t>
            </a:r>
          </a:p>
        </p:txBody>
      </p:sp>
      <p:sp>
        <p:nvSpPr>
          <p:cNvPr id="12" name="shape 12"/>
          <p:cNvSpPr/>
          <p:nvPr/>
        </p:nvSpPr>
        <p:spPr>
          <a:xfrm>
            <a:off x="868680" y="1600200"/>
            <a:ext cx="4206240" cy="35661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472B6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1234440" y="196596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500" b="1">
                <a:solidFill>
                  <a:srgbClr val="F8FAFC"/>
                </a:solidFill>
                <a:latin typeface="Aptos"/>
              </a:rPr>
              <a:t>Puzzle card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234440" y="26060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050" b="0">
                <a:solidFill>
                  <a:srgbClr val="CBD5E1"/>
                </a:solidFill>
                <a:latin typeface="Aptos"/>
              </a:rPr>
              <a:t>rating, tema, progres</a:t>
            </a:r>
          </a:p>
        </p:txBody>
      </p:sp>
      <p:sp>
        <p:nvSpPr>
          <p:cNvPr id="15" name="shape 15"/>
          <p:cNvSpPr/>
          <p:nvPr/>
        </p:nvSpPr>
        <p:spPr>
          <a:xfrm>
            <a:off x="1417320" y="3246120"/>
            <a:ext cx="3108960" cy="566928"/>
          </a:xfrm>
          <a:prstGeom prst="roundRect">
            <a:avLst/>
          </a:prstGeom>
          <a:solidFill>
            <a:srgbClr val="3B1D2E"/>
          </a:solidFill>
          <a:ln w="12700">
            <a:solidFill>
              <a:srgbClr val="F472B6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1600200" y="341985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950" b="0">
                <a:solidFill>
                  <a:srgbClr val="FBCFE8"/>
                </a:solidFill>
                <a:latin typeface="Aptos"/>
              </a:rPr>
              <a:t>Wrong move - try again!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5715000" y="1828800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285750" indent="-171450">
              <a:buChar char="•"/>
            </a:pPr>
            <a:r>
              <a:rPr lang="ro-RO" sz="1300" b="0">
                <a:solidFill>
                  <a:srgbClr val="E2E8F0"/>
                </a:solidFill>
                <a:latin typeface="Aptos"/>
              </a:rPr>
              <a:t>incarcare din baza Lichess CSV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5715000" y="2395728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285750" indent="-171450">
              <a:buChar char="•"/>
            </a:pPr>
            <a:r>
              <a:rPr lang="ro-RO" sz="1300" b="0">
                <a:solidFill>
                  <a:srgbClr val="E2E8F0"/>
                </a:solidFill>
                <a:latin typeface="Aptos"/>
              </a:rPr>
              <a:t>filtrare dupa tema si puzzle random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5715000" y="2962656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285750" indent="-171450">
              <a:buChar char="•"/>
            </a:pPr>
            <a:r>
              <a:rPr lang="ro-RO" sz="1300" b="0">
                <a:solidFill>
                  <a:srgbClr val="E2E8F0"/>
                </a:solidFill>
                <a:latin typeface="Aptos"/>
              </a:rPr>
              <a:t>hint pentru mutarea corecta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5715000" y="352958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285750" indent="-171450">
              <a:buChar char="•"/>
            </a:pPr>
            <a:r>
              <a:rPr lang="ro-RO" sz="1300" b="0">
                <a:solidFill>
                  <a:srgbClr val="E2E8F0"/>
                </a:solidFill>
                <a:latin typeface="Aptos"/>
              </a:rPr>
              <a:t>validare pas cu pas, doar in modul puzzle</a:t>
            </a:r>
          </a:p>
        </p:txBody>
      </p:sp>
      <p:cxnSp>
        <p:nvCxnSpPr>
          <p:cNvPr id="95" name="connector 95"/>
          <p:cNvCxnSpPr/>
          <p:nvPr/>
        </p:nvCxnSpPr>
        <p:spPr>
          <a:xfrm>
            <a:off x="685800" y="6400800"/>
            <a:ext cx="10789920" cy="0"/>
          </a:xfrm>
          <a:prstGeom prst="line">
            <a:avLst/>
          </a:prstGeom>
          <a:ln w="9000" cap="round">
            <a:solidFill>
              <a:srgbClr val="334155"/>
            </a:solidFill>
          </a:ln>
        </p:spPr>
      </p:cxnSp>
      <p:sp>
        <p:nvSpPr>
          <p:cNvPr id="96" name="text 96"/>
          <p:cNvSpPr txBox="1"/>
          <p:nvPr/>
        </p:nvSpPr>
        <p:spPr>
          <a:xfrm>
            <a:off x="685800" y="64739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ChessMate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3047999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shape 201"/>
          <p:cNvSpPr/>
          <p:nvPr/>
        </p:nvSpPr>
        <p:spPr>
          <a:xfrm>
            <a:off x="3047999" y="0"/>
            <a:ext cx="3047999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shape 202"/>
          <p:cNvSpPr/>
          <p:nvPr/>
        </p:nvSpPr>
        <p:spPr>
          <a:xfrm>
            <a:off x="6095999" y="0"/>
            <a:ext cx="304799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shape 203"/>
          <p:cNvSpPr/>
          <p:nvPr/>
        </p:nvSpPr>
        <p:spPr>
          <a:xfrm>
            <a:off x="9143999" y="0"/>
            <a:ext cx="3047999" cy="640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685800" y="41148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2800" b="1">
                <a:solidFill>
                  <a:srgbClr val="F8FAFC"/>
                </a:solidFill>
                <a:latin typeface="Aptos"/>
              </a:rPr>
              <a:t>Conturi, istoric si review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250" b="0">
                <a:solidFill>
                  <a:srgbClr val="CBD5E1"/>
                </a:solidFill>
                <a:latin typeface="Aptos"/>
              </a:rPr>
              <a:t>Partea persistenta a produsului.</a:t>
            </a:r>
          </a:p>
        </p:txBody>
      </p:sp>
      <p:sp>
        <p:nvSpPr>
          <p:cNvPr id="12" name="shape 12"/>
          <p:cNvSpPr/>
          <p:nvPr/>
        </p:nvSpPr>
        <p:spPr>
          <a:xfrm>
            <a:off x="914400" y="1600200"/>
            <a:ext cx="2834640" cy="6858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1143000" y="171907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100" b="1">
                <a:solidFill>
                  <a:srgbClr val="F8FAFC"/>
                </a:solidFill>
                <a:latin typeface="Aptos"/>
              </a:rPr>
              <a:t>Users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331720" y="171907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ro-RO" sz="900" b="0">
                <a:solidFill>
                  <a:srgbClr val="CBD5E1"/>
                </a:solidFill>
                <a:latin typeface="Aptos"/>
              </a:rPr>
              <a:t>conturi + JWT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3749039" y="1947672"/>
            <a:ext cx="1097280" cy="1115568"/>
          </a:xfrm>
          <a:prstGeom prst="line">
            <a:avLst/>
          </a:prstGeom>
          <a:ln w="10000" cap="round">
            <a:solidFill>
              <a:srgbClr val="64748B"/>
            </a:solidFill>
          </a:ln>
        </p:spPr>
      </p:cxnSp>
      <p:sp>
        <p:nvSpPr>
          <p:cNvPr id="22" name="shape 22"/>
          <p:cNvSpPr/>
          <p:nvPr/>
        </p:nvSpPr>
        <p:spPr>
          <a:xfrm>
            <a:off x="914400" y="2560320"/>
            <a:ext cx="2834640" cy="6858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1143000" y="2679191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100" b="1">
                <a:solidFill>
                  <a:srgbClr val="F8FAFC"/>
                </a:solidFill>
                <a:latin typeface="Aptos"/>
              </a:rPr>
              <a:t>Ratings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2331720" y="2679191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ro-RO" sz="900" b="0">
                <a:solidFill>
                  <a:srgbClr val="CBD5E1"/>
                </a:solidFill>
                <a:latin typeface="Aptos"/>
              </a:rPr>
              <a:t>Glicko-2</a:t>
            </a:r>
          </a:p>
        </p:txBody>
      </p:sp>
      <p:cxnSp>
        <p:nvCxnSpPr>
          <p:cNvPr id="25" name="connector 25"/>
          <p:cNvCxnSpPr/>
          <p:nvPr/>
        </p:nvCxnSpPr>
        <p:spPr>
          <a:xfrm>
            <a:off x="3749039" y="2907791"/>
            <a:ext cx="1097280" cy="155448"/>
          </a:xfrm>
          <a:prstGeom prst="line">
            <a:avLst/>
          </a:prstGeom>
          <a:ln w="10000" cap="round">
            <a:solidFill>
              <a:srgbClr val="64748B"/>
            </a:solidFill>
          </a:ln>
        </p:spPr>
      </p:cxnSp>
      <p:sp>
        <p:nvSpPr>
          <p:cNvPr id="32" name="shape 32"/>
          <p:cNvSpPr/>
          <p:nvPr/>
        </p:nvSpPr>
        <p:spPr>
          <a:xfrm>
            <a:off x="914400" y="3520440"/>
            <a:ext cx="2834640" cy="6858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1143000" y="363931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100" b="1">
                <a:solidFill>
                  <a:srgbClr val="F8FAFC"/>
                </a:solidFill>
                <a:latin typeface="Aptos"/>
              </a:rPr>
              <a:t>Games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2331720" y="363931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ro-RO" sz="900" b="0">
                <a:solidFill>
                  <a:srgbClr val="CBD5E1"/>
                </a:solidFill>
                <a:latin typeface="Aptos"/>
              </a:rPr>
              <a:t>FEN + mutari</a:t>
            </a:r>
          </a:p>
        </p:txBody>
      </p:sp>
      <p:cxnSp>
        <p:nvCxnSpPr>
          <p:cNvPr id="35" name="connector 35"/>
          <p:cNvCxnSpPr/>
          <p:nvPr/>
        </p:nvCxnSpPr>
        <p:spPr>
          <a:xfrm flipV="1">
            <a:off x="3749039" y="3063240"/>
            <a:ext cx="1097280" cy="804672"/>
          </a:xfrm>
          <a:prstGeom prst="line">
            <a:avLst/>
          </a:prstGeom>
          <a:ln w="10000" cap="round">
            <a:solidFill>
              <a:srgbClr val="64748B"/>
            </a:solidFill>
          </a:ln>
        </p:spPr>
      </p:cxnSp>
      <p:sp>
        <p:nvSpPr>
          <p:cNvPr id="42" name="shape 42"/>
          <p:cNvSpPr/>
          <p:nvPr/>
        </p:nvSpPr>
        <p:spPr>
          <a:xfrm>
            <a:off x="914400" y="4480560"/>
            <a:ext cx="2834640" cy="6858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472B6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1143000" y="459943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100" b="1">
                <a:solidFill>
                  <a:srgbClr val="F8FAFC"/>
                </a:solidFill>
                <a:latin typeface="Aptos"/>
              </a:rPr>
              <a:t>Analysis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2331720" y="459943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ro-RO" sz="900" b="0">
                <a:solidFill>
                  <a:srgbClr val="CBD5E1"/>
                </a:solidFill>
                <a:latin typeface="Aptos"/>
              </a:rPr>
              <a:t>cache JSON</a:t>
            </a:r>
          </a:p>
        </p:txBody>
      </p:sp>
      <p:cxnSp>
        <p:nvCxnSpPr>
          <p:cNvPr id="45" name="connector 45"/>
          <p:cNvCxnSpPr/>
          <p:nvPr/>
        </p:nvCxnSpPr>
        <p:spPr>
          <a:xfrm flipV="1">
            <a:off x="3749039" y="3063240"/>
            <a:ext cx="1097280" cy="1764792"/>
          </a:xfrm>
          <a:prstGeom prst="line">
            <a:avLst/>
          </a:prstGeom>
          <a:ln w="10000" cap="round">
            <a:solidFill>
              <a:srgbClr val="64748B"/>
            </a:solidFill>
          </a:ln>
        </p:spPr>
      </p:cxnSp>
      <p:sp>
        <p:nvSpPr>
          <p:cNvPr id="80" name="shape 80"/>
          <p:cNvSpPr/>
          <p:nvPr/>
        </p:nvSpPr>
        <p:spPr>
          <a:xfrm>
            <a:off x="5029200" y="1965960"/>
            <a:ext cx="2834640" cy="21488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81" name="text 81"/>
          <p:cNvSpPr txBox="1"/>
          <p:nvPr/>
        </p:nvSpPr>
        <p:spPr>
          <a:xfrm>
            <a:off x="5257800" y="24231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550" b="1">
                <a:solidFill>
                  <a:srgbClr val="F8FAFC"/>
                </a:solidFill>
                <a:latin typeface="Aptos"/>
              </a:rPr>
              <a:t>SQLAlchemy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5257800" y="294436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950" b="0">
                <a:solidFill>
                  <a:srgbClr val="CBD5E1"/>
                </a:solidFill>
                <a:latin typeface="Aptos"/>
              </a:rPr>
              <a:t>SQLite local / Postgres prod</a:t>
            </a:r>
          </a:p>
        </p:txBody>
      </p:sp>
      <p:sp>
        <p:nvSpPr>
          <p:cNvPr id="90" name="shape 90"/>
          <p:cNvSpPr/>
          <p:nvPr/>
        </p:nvSpPr>
        <p:spPr>
          <a:xfrm>
            <a:off x="8458200" y="1783080"/>
            <a:ext cx="2606040" cy="246888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91" name="shape 91"/>
          <p:cNvSpPr/>
          <p:nvPr/>
        </p:nvSpPr>
        <p:spPr>
          <a:xfrm>
            <a:off x="8458200" y="1783080"/>
            <a:ext cx="73152" cy="2468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92" name="text 92"/>
          <p:cNvSpPr txBox="1"/>
          <p:nvPr/>
        </p:nvSpPr>
        <p:spPr>
          <a:xfrm>
            <a:off x="8686800" y="198424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450" b="1">
                <a:solidFill>
                  <a:srgbClr val="F8FAFC"/>
                </a:solidFill>
                <a:latin typeface="Aptos"/>
              </a:rPr>
              <a:t>Review</a:t>
            </a:r>
          </a:p>
        </p:txBody>
      </p:sp>
      <p:sp>
        <p:nvSpPr>
          <p:cNvPr id="93" name="text 93"/>
          <p:cNvSpPr txBox="1"/>
          <p:nvPr/>
        </p:nvSpPr>
        <p:spPr>
          <a:xfrm>
            <a:off x="8686800" y="2441448"/>
            <a:ext cx="214884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050" b="0">
                <a:solidFill>
                  <a:srgbClr val="CBD5E1"/>
                </a:solidFill>
                <a:latin typeface="Aptos"/>
              </a:rPr>
              <a:t>replay, evaluare pe ply, best move</a:t>
            </a:r>
          </a:p>
        </p:txBody>
      </p:sp>
      <p:cxnSp>
        <p:nvCxnSpPr>
          <p:cNvPr id="110" name="connector 110"/>
          <p:cNvCxnSpPr/>
          <p:nvPr/>
        </p:nvCxnSpPr>
        <p:spPr>
          <a:xfrm>
            <a:off x="685800" y="6400800"/>
            <a:ext cx="10789920" cy="0"/>
          </a:xfrm>
          <a:prstGeom prst="line">
            <a:avLst/>
          </a:prstGeom>
          <a:ln w="9000" cap="round">
            <a:solidFill>
              <a:srgbClr val="334155"/>
            </a:solidFill>
          </a:ln>
        </p:spPr>
      </p:cxnSp>
      <p:sp>
        <p:nvSpPr>
          <p:cNvPr id="111" name="text 111"/>
          <p:cNvSpPr txBox="1"/>
          <p:nvPr/>
        </p:nvSpPr>
        <p:spPr>
          <a:xfrm>
            <a:off x="685800" y="64739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ChessMate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729984"/>
            <a:ext cx="12191999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0" y="822960"/>
            <a:ext cx="12191999" cy="2377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ro-RO" sz="10000" b="1">
                <a:solidFill>
                  <a:srgbClr val="F59E0B"/>
                </a:solidFill>
                <a:latin typeface="Aptos"/>
              </a:rPr>
              <a:t>♚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0" y="3291840"/>
            <a:ext cx="1219199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6000" b="1">
                <a:solidFill>
                  <a:srgbClr val="F8FAFC"/>
                </a:solidFill>
                <a:latin typeface="Aptos"/>
              </a:rPr>
              <a:t>Demo time!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0" y="4663440"/>
            <a:ext cx="12191999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450" b="0">
                <a:solidFill>
                  <a:srgbClr val="94A3B8"/>
                </a:solidFill>
                <a:latin typeface="Aptos"/>
              </a:rPr>
              <a:t>Haideti sa exploram aplicatia impreuna.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0" y="0"/>
            <a:ext cx="3047999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shape 201"/>
          <p:cNvSpPr/>
          <p:nvPr/>
        </p:nvSpPr>
        <p:spPr>
          <a:xfrm>
            <a:off x="3047999" y="0"/>
            <a:ext cx="3047999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shape 202"/>
          <p:cNvSpPr/>
          <p:nvPr/>
        </p:nvSpPr>
        <p:spPr>
          <a:xfrm>
            <a:off x="6095999" y="0"/>
            <a:ext cx="304799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shape 203"/>
          <p:cNvSpPr/>
          <p:nvPr/>
        </p:nvSpPr>
        <p:spPr>
          <a:xfrm>
            <a:off x="9143999" y="0"/>
            <a:ext cx="3047999" cy="640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685800" y="41148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2800" b="1">
                <a:solidFill>
                  <a:srgbClr val="F8FAFC"/>
                </a:solidFill>
                <a:latin typeface="Aptos"/>
              </a:rPr>
              <a:t>Livrare si evolutie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250" b="0">
                <a:solidFill>
                  <a:srgbClr val="CBD5E1"/>
                </a:solidFill>
                <a:latin typeface="Aptos"/>
              </a:rPr>
              <a:t>Proiectul e gandit pentru rulare locala si deploy.</a:t>
            </a:r>
          </a:p>
        </p:txBody>
      </p:sp>
      <p:sp>
        <p:nvSpPr>
          <p:cNvPr id="12" name="shape 12"/>
          <p:cNvSpPr/>
          <p:nvPr/>
        </p:nvSpPr>
        <p:spPr>
          <a:xfrm>
            <a:off x="868680" y="1645920"/>
            <a:ext cx="3291840" cy="22860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868680" y="1645920"/>
            <a:ext cx="73152" cy="2286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097280" y="184708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450" b="1">
                <a:solidFill>
                  <a:srgbClr val="F8FAFC"/>
                </a:solidFill>
                <a:latin typeface="Aptos"/>
              </a:rPr>
              <a:t>Rulare locala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097280" y="2304288"/>
            <a:ext cx="283464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050" b="0">
                <a:solidFill>
                  <a:srgbClr val="CBD5E1"/>
                </a:solidFill>
                <a:latin typeface="Aptos"/>
              </a:rPr>
              <a:t>./local-setup.sh porneste web app + multiplayer.</a:t>
            </a:r>
          </a:p>
        </p:txBody>
      </p:sp>
      <p:sp>
        <p:nvSpPr>
          <p:cNvPr id="22" name="shape 22"/>
          <p:cNvSpPr/>
          <p:nvPr/>
        </p:nvSpPr>
        <p:spPr>
          <a:xfrm>
            <a:off x="4434840" y="1645920"/>
            <a:ext cx="3291840" cy="22860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4434840" y="1645920"/>
            <a:ext cx="73152" cy="2286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4663440" y="184708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450" b="1">
                <a:solidFill>
                  <a:srgbClr val="F8FAFC"/>
                </a:solidFill>
                <a:latin typeface="Aptos"/>
              </a:rPr>
              <a:t>Deploy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663440" y="2304288"/>
            <a:ext cx="283464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050" b="0">
                <a:solidFill>
                  <a:srgbClr val="CBD5E1"/>
                </a:solidFill>
                <a:latin typeface="Aptos"/>
              </a:rPr>
              <a:t>Render Blueprint: web, multiplayer, Postgres, secret shared.</a:t>
            </a:r>
          </a:p>
        </p:txBody>
      </p:sp>
      <p:sp>
        <p:nvSpPr>
          <p:cNvPr id="32" name="shape 32"/>
          <p:cNvSpPr/>
          <p:nvPr/>
        </p:nvSpPr>
        <p:spPr>
          <a:xfrm>
            <a:off x="8001000" y="1645920"/>
            <a:ext cx="3291840" cy="22860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8001000" y="1645920"/>
            <a:ext cx="73152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8229600" y="184708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450" b="1">
                <a:solidFill>
                  <a:srgbClr val="F8FAFC"/>
                </a:solidFill>
                <a:latin typeface="Aptos"/>
              </a:rPr>
              <a:t>Ce urmeaza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8229600" y="2304288"/>
            <a:ext cx="283464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050" b="0">
                <a:solidFill>
                  <a:srgbClr val="CBD5E1"/>
                </a:solidFill>
                <a:latin typeface="Aptos"/>
              </a:rPr>
              <a:t>engine mai puternic, rating online, analiza detaliata.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1234440" y="4800600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ro-RO" sz="1500" b="1">
                <a:solidFill>
                  <a:srgbClr val="F8FAFC"/>
                </a:solidFill>
                <a:latin typeface="Aptos"/>
              </a:rPr>
              <a:t>Aplicatie completa: reguli reale, moduri multiple, infrastructura pentru invatare.</a:t>
            </a:r>
          </a:p>
        </p:txBody>
      </p:sp>
      <p:cxnSp>
        <p:nvCxnSpPr>
          <p:cNvPr id="95" name="connector 95"/>
          <p:cNvCxnSpPr/>
          <p:nvPr/>
        </p:nvCxnSpPr>
        <p:spPr>
          <a:xfrm>
            <a:off x="685800" y="6400800"/>
            <a:ext cx="10789920" cy="0"/>
          </a:xfrm>
          <a:prstGeom prst="line">
            <a:avLst/>
          </a:prstGeom>
          <a:ln w="9000" cap="round">
            <a:solidFill>
              <a:srgbClr val="334155"/>
            </a:solidFill>
          </a:ln>
        </p:spPr>
      </p:cxnSp>
      <p:sp>
        <p:nvSpPr>
          <p:cNvPr id="96" name="text 96"/>
          <p:cNvSpPr txBox="1"/>
          <p:nvPr/>
        </p:nvSpPr>
        <p:spPr>
          <a:xfrm>
            <a:off x="685800" y="64739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ChessMate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ro-RO" sz="1000" b="0">
                <a:solidFill>
                  <a:srgbClr val="94A3B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essMate">
  <a:themeElements>
    <a:clrScheme name="ChessMate">
      <a:dk1>
        <a:srgbClr val="0F172A"/>
      </a:dk1>
      <a:lt1>
        <a:srgbClr val="F8FAFC"/>
      </a:lt1>
      <a:dk2>
        <a:srgbClr val="172033"/>
      </a:dk2>
      <a:lt2>
        <a:srgbClr val="E2E8F0"/>
      </a:lt2>
      <a:accent1>
        <a:srgbClr val="38BDF8"/>
      </a:accent1>
      <a:accent2>
        <a:srgbClr val="34D399"/>
      </a:accent2>
      <a:accent3>
        <a:srgbClr val="F59E0B"/>
      </a:accent3>
      <a:accent4>
        <a:srgbClr val="F472B6"/>
      </a:accent4>
      <a:accent5>
        <a:srgbClr val="A78BFA"/>
      </a:accent5>
      <a:accent6>
        <a:srgbClr val="22D3EE"/>
      </a:accent6>
      <a:hlink>
        <a:srgbClr val="38BDF8"/>
      </a:hlink>
      <a:folHlink>
        <a:srgbClr val="A78BFA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hessMat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ChessMate prezentare proiect</dc:title>
  <dc:creator>Codex</dc:creator>
  <cp:lastModifiedBy>Codex</cp:lastModifiedBy>
  <dcterms:created xsi:type="dcterms:W3CDTF">2026-05-28T07:02:28+00:00</dcterms:created>
  <dcterms:modified xsi:type="dcterms:W3CDTF">2026-05-28T07:02:28+00:00</dcterms:modified>
</cp:coreProperties>
</file>